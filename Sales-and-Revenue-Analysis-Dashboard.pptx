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0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JasmineUPC" panose="02020603050405020304" pitchFamily="18" charset="-34"/>
      <p:regular r:id="rId11"/>
    </p:embeddedFont>
    <p:embeddedFont>
      <p:font typeface="Platypi Medium" panose="020B0604020202020204" charset="0"/>
      <p:regular r:id="rId12"/>
    </p:embeddedFont>
    <p:embeddedFont>
      <p:font typeface="Raleway" pitchFamily="2" charset="0"/>
      <p:regular r:id="rId13"/>
    </p:embeddedFont>
    <p:embeddedFont>
      <p:font typeface="Source Serif 4" panose="020B0604020202020204" charset="0"/>
      <p:regular r:id="rId14"/>
    </p:embeddedFont>
    <p:embeddedFont>
      <p:font typeface="Source Serif 4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091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5310909" y="1310407"/>
            <a:ext cx="5143499" cy="2522686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5129143" y="342123"/>
            <a:ext cx="2364626" cy="2239247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5" y="1485900"/>
            <a:ext cx="4420137" cy="2190940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744" y="3676841"/>
            <a:ext cx="3673527" cy="93263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2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593" y="188886"/>
            <a:ext cx="2442460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593" y="4756440"/>
            <a:ext cx="1354846" cy="273844"/>
          </a:xfrm>
        </p:spPr>
        <p:txBody>
          <a:bodyPr/>
          <a:lstStyle>
            <a:lvl1pPr algn="l">
              <a:defRPr/>
            </a:lvl1pPr>
          </a:lstStyle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6133736" y="3526162"/>
            <a:ext cx="1750169" cy="1504121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35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8430492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5" y="377190"/>
            <a:ext cx="7886700" cy="7338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745" y="1133811"/>
            <a:ext cx="7886700" cy="34495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0839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5" y="849796"/>
            <a:ext cx="3432666" cy="269102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745" y="3540816"/>
            <a:ext cx="3223945" cy="75288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2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593" y="192024"/>
            <a:ext cx="2442460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593" y="4756440"/>
            <a:ext cx="1354846" cy="273844"/>
          </a:xfrm>
        </p:spPr>
        <p:txBody>
          <a:bodyPr/>
          <a:lstStyle>
            <a:lvl1pPr algn="l">
              <a:defRPr/>
            </a:lvl1pPr>
          </a:lstStyle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01563" y="1157071"/>
            <a:ext cx="4280701" cy="3986429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6125082" y="0"/>
            <a:ext cx="3018918" cy="1624718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8505525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4660378" y="554422"/>
            <a:ext cx="4086542" cy="337084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4983461" y="3917479"/>
            <a:ext cx="3316232" cy="1238267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4377" y="1001726"/>
            <a:ext cx="3007769" cy="1797272"/>
          </a:xfrm>
        </p:spPr>
        <p:txBody>
          <a:bodyPr anchor="ctr">
            <a:normAutofit/>
          </a:bodyPr>
          <a:lstStyle>
            <a:lvl1pPr algn="ctr">
              <a:defRPr sz="49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6029" y="2887541"/>
            <a:ext cx="2281844" cy="75289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14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487165" y="486831"/>
            <a:ext cx="5159422" cy="4185086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40" y="1763795"/>
            <a:ext cx="2915822" cy="1984995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1698" y="711680"/>
            <a:ext cx="3248331" cy="379130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200"/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183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5733" y="803003"/>
            <a:ext cx="3366431" cy="1089810"/>
          </a:xfrm>
        </p:spPr>
        <p:txBody>
          <a:bodyPr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5733" y="192024"/>
            <a:ext cx="2442460" cy="27384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733" y="1909298"/>
            <a:ext cx="3366431" cy="267677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5732" y="4767263"/>
            <a:ext cx="2160458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773771" y="597474"/>
            <a:ext cx="2794254" cy="2748334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327380" y="3264921"/>
            <a:ext cx="1836662" cy="92281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tx2"/>
              </a:solidFill>
            </a:endParaRPr>
          </a:p>
          <a:p>
            <a:pPr algn="ctr"/>
            <a:endParaRPr lang="en-US" sz="1350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185867" y="4193621"/>
            <a:ext cx="1736257" cy="949782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1936064" y="3581656"/>
            <a:ext cx="469667" cy="337310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6818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679123" y="1258218"/>
            <a:ext cx="9602923" cy="3898318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593" y="2160596"/>
            <a:ext cx="5860217" cy="2776928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593" y="192024"/>
            <a:ext cx="2442460" cy="273844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838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3" y="1375780"/>
            <a:ext cx="3338305" cy="108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2329" y="1375780"/>
            <a:ext cx="3424830" cy="2792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2330" y="4767263"/>
            <a:ext cx="2379514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429231" y="4052911"/>
            <a:ext cx="1658150" cy="85987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  <a:p>
            <a:pPr algn="ctr"/>
            <a:endParaRPr lang="en-US" sz="1350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264961" y="2678227"/>
            <a:ext cx="1415088" cy="142571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016868" y="3918148"/>
            <a:ext cx="1502265" cy="822577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1725760" y="3235987"/>
            <a:ext cx="517444" cy="234680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1936561" y="3517084"/>
            <a:ext cx="93563" cy="103003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2519336" y="4366621"/>
            <a:ext cx="396966" cy="275346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38987814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7669121" y="3677124"/>
            <a:ext cx="1460892" cy="147186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5000561" y="3953786"/>
            <a:ext cx="1676949" cy="91035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  <a:p>
            <a:pPr algn="ctr"/>
            <a:endParaRPr lang="en-US" sz="135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6507590" y="3869998"/>
            <a:ext cx="1428483" cy="850645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8236515" y="4266645"/>
            <a:ext cx="418558" cy="302953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5593615" y="4299631"/>
            <a:ext cx="490841" cy="218663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7046254" y="3935033"/>
            <a:ext cx="454766" cy="243773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6" y="710293"/>
            <a:ext cx="2885885" cy="162877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5732" y="691685"/>
            <a:ext cx="4213862" cy="23216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46744" y="4767263"/>
            <a:ext cx="1549901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3036" y="4767263"/>
            <a:ext cx="368876" cy="273844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040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2755180" y="3557319"/>
            <a:ext cx="1610226" cy="153362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2" y="727905"/>
            <a:ext cx="2754104" cy="1587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93" y="2326877"/>
            <a:ext cx="2020902" cy="2061899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4745" y="4767263"/>
            <a:ext cx="1630111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54856" y="4767263"/>
            <a:ext cx="939386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3994636" y="377647"/>
            <a:ext cx="4852803" cy="4786306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3396577" y="4202209"/>
            <a:ext cx="383603" cy="193838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3549809" y="4452258"/>
            <a:ext cx="101002" cy="3428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5999539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3" y="295461"/>
            <a:ext cx="3238333" cy="10923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93" y="1399555"/>
            <a:ext cx="3238333" cy="31386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6455" y="536496"/>
            <a:ext cx="4630596" cy="3877952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3919734" y="4296544"/>
            <a:ext cx="1598635" cy="780018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4572001" y="4538218"/>
            <a:ext cx="453401" cy="243042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1042028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452424" y="4299025"/>
            <a:ext cx="1807364" cy="824684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432" y="393311"/>
            <a:ext cx="3824586" cy="10923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4450" y="1567636"/>
            <a:ext cx="2857688" cy="2768315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432" y="1497406"/>
            <a:ext cx="3824586" cy="30618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1432" y="4767263"/>
            <a:ext cx="2379514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041362" y="503602"/>
            <a:ext cx="1604240" cy="152227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03945824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4" y="485236"/>
            <a:ext cx="2943356" cy="13311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94" y="1828064"/>
            <a:ext cx="2943356" cy="27119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23085" y="1"/>
            <a:ext cx="4920916" cy="51434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593" y="4756440"/>
            <a:ext cx="1987087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2680" y="4767263"/>
            <a:ext cx="950395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99466" y="4767263"/>
            <a:ext cx="368876" cy="273844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5333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2" y="398230"/>
            <a:ext cx="4046408" cy="10923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92" y="1502325"/>
            <a:ext cx="4046408" cy="3012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5137951" y="929135"/>
            <a:ext cx="3690377" cy="4282664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21184" y="4767263"/>
            <a:ext cx="1350817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441" y="4767263"/>
            <a:ext cx="410441" cy="273844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7719956" y="366435"/>
            <a:ext cx="1499072" cy="712730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34230578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5" y="398230"/>
            <a:ext cx="4046408" cy="10923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745" y="1502325"/>
            <a:ext cx="4046408" cy="3012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4968236" y="137716"/>
            <a:ext cx="4157507" cy="4560404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4745" y="4767263"/>
            <a:ext cx="2379514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4534" y="4767263"/>
            <a:ext cx="1350817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441" y="4767263"/>
            <a:ext cx="410441" cy="273844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4689501" y="3701629"/>
            <a:ext cx="1350031" cy="133183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5168410" y="4177540"/>
            <a:ext cx="469667" cy="337310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00930529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66" y="259080"/>
            <a:ext cx="4854425" cy="8499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067" y="1120726"/>
            <a:ext cx="4854425" cy="34512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8067" y="4767263"/>
            <a:ext cx="2431967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55732" y="4767263"/>
            <a:ext cx="1350817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83181" y="4767263"/>
            <a:ext cx="410441" cy="273844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33655" y="0"/>
            <a:ext cx="3110345" cy="51435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143443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4" y="3319896"/>
            <a:ext cx="2890090" cy="1267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3079631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4471" y="3319896"/>
            <a:ext cx="4952042" cy="13941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8504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5" y="710838"/>
            <a:ext cx="2291696" cy="117823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1690" y="2424266"/>
            <a:ext cx="2622569" cy="222075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4329" y="710838"/>
            <a:ext cx="5474078" cy="39341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1797701" y="1908054"/>
            <a:ext cx="779542" cy="7853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99049475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0746" y="3358664"/>
            <a:ext cx="5292755" cy="1108995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20616" y="619126"/>
            <a:ext cx="5809947" cy="3375734"/>
          </a:xfrm>
        </p:spPr>
        <p:txBody>
          <a:bodyPr anchor="b"/>
          <a:lstStyle>
            <a:lvl1pPr>
              <a:buNone/>
              <a:defRPr sz="225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0747" y="4767263"/>
            <a:ext cx="2379514" cy="27384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87419" y="2281907"/>
            <a:ext cx="2454102" cy="2799050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35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590279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2" y="-708660"/>
            <a:ext cx="7791275" cy="6057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93989" y="1178038"/>
            <a:ext cx="5956024" cy="2862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6000" b="1" dirty="0">
                <a:latin typeface="+mj-lt"/>
              </a:defRPr>
            </a:lvl1pPr>
            <a:lvl2pPr marL="342900" indent="0" algn="ctr">
              <a:lnSpc>
                <a:spcPct val="55000"/>
              </a:lnSpc>
              <a:buNone/>
              <a:defRPr lang="en-US" sz="6000" b="1" dirty="0">
                <a:latin typeface="+mj-lt"/>
              </a:defRPr>
            </a:lvl2pPr>
            <a:lvl3pPr marL="685800" indent="0" algn="ctr">
              <a:lnSpc>
                <a:spcPct val="55000"/>
              </a:lnSpc>
              <a:buNone/>
              <a:defRPr lang="en-US" sz="6000" b="1" dirty="0">
                <a:latin typeface="+mj-lt"/>
              </a:defRPr>
            </a:lvl3pPr>
            <a:lvl4pPr marL="1028700" indent="0" algn="ctr">
              <a:lnSpc>
                <a:spcPct val="55000"/>
              </a:lnSpc>
              <a:buNone/>
              <a:defRPr lang="en-US" sz="6000" b="1" dirty="0">
                <a:latin typeface="+mj-lt"/>
              </a:defRPr>
            </a:lvl4pPr>
            <a:lvl5pPr marL="1371600" indent="0" algn="ctr">
              <a:lnSpc>
                <a:spcPct val="55000"/>
              </a:lnSpc>
              <a:buNone/>
              <a:defRPr lang="en-US" sz="6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175045" y="2266879"/>
            <a:ext cx="3598826" cy="3579062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5436068" y="462360"/>
            <a:ext cx="3711806" cy="373967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449149" y="1070172"/>
            <a:ext cx="4525132" cy="2084002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536792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7681317" y="3746796"/>
            <a:ext cx="1393529" cy="1432648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593" y="3952885"/>
            <a:ext cx="5112218" cy="605790"/>
          </a:xfrm>
        </p:spPr>
        <p:txBody>
          <a:bodyPr anchor="ctr">
            <a:normAutofit/>
          </a:bodyPr>
          <a:lstStyle>
            <a:lvl1pPr>
              <a:defRPr sz="27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351" y="1031310"/>
            <a:ext cx="5545541" cy="240126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33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6344" y="4767263"/>
            <a:ext cx="1549901" cy="27384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02637" y="4767263"/>
            <a:ext cx="368876" cy="27384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6405723" y="3804568"/>
            <a:ext cx="1625798" cy="85884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7450796" y="2244232"/>
            <a:ext cx="1525170" cy="153662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8385757" y="4577892"/>
            <a:ext cx="93563" cy="103003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7052344" y="4121908"/>
            <a:ext cx="396966" cy="275346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8252673" y="4247221"/>
            <a:ext cx="414540" cy="193838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8032634" y="2956923"/>
            <a:ext cx="516192" cy="229957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415624451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6" y="411781"/>
            <a:ext cx="7420499" cy="8080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4746" y="1459936"/>
            <a:ext cx="3316094" cy="3183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1" y="1459936"/>
            <a:ext cx="3316094" cy="3183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3258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756" y="273844"/>
            <a:ext cx="7886700" cy="9459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756" y="1219815"/>
            <a:ext cx="3325622" cy="449909"/>
          </a:xfrm>
        </p:spPr>
        <p:txBody>
          <a:bodyPr anchor="b">
            <a:normAutofit/>
          </a:bodyPr>
          <a:lstStyle>
            <a:lvl1pPr marL="0" indent="0">
              <a:buNone/>
              <a:defRPr sz="1050" b="0" cap="all" spc="75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756" y="1719904"/>
            <a:ext cx="3309324" cy="29886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19815"/>
            <a:ext cx="3325623" cy="449909"/>
          </a:xfrm>
        </p:spPr>
        <p:txBody>
          <a:bodyPr anchor="b">
            <a:normAutofit/>
          </a:bodyPr>
          <a:lstStyle>
            <a:lvl1pPr marL="0" indent="0">
              <a:buNone/>
              <a:defRPr sz="1050" b="0" cap="all" spc="75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719904"/>
            <a:ext cx="3325622" cy="29886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3642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5" y="411781"/>
            <a:ext cx="7886700" cy="8594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1991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87657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6590271" y="2810046"/>
            <a:ext cx="1641667" cy="1539318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7309507" y="1379592"/>
            <a:ext cx="1267104" cy="129468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6723785" y="4320552"/>
            <a:ext cx="1835871" cy="854888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7280687" y="3780476"/>
            <a:ext cx="440176" cy="3186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7673808" y="1952596"/>
            <a:ext cx="516192" cy="229957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3" y="1160145"/>
            <a:ext cx="4572187" cy="1174629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93" y="2340395"/>
            <a:ext cx="3446871" cy="1521446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97780" y="4767263"/>
            <a:ext cx="1350817" cy="27384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373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6750712" y="4296009"/>
            <a:ext cx="1797257" cy="820599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7532701" y="3059829"/>
            <a:ext cx="1346075" cy="137537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7955098" y="3706699"/>
            <a:ext cx="516192" cy="229957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3" y="1151981"/>
            <a:ext cx="4572187" cy="1084948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93" y="2245093"/>
            <a:ext cx="6671184" cy="1616748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40683" y="4767263"/>
            <a:ext cx="1350817" cy="27384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79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376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5" y="379142"/>
            <a:ext cx="7886700" cy="7358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745" y="1135899"/>
            <a:ext cx="7886700" cy="3448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4745" y="4767263"/>
            <a:ext cx="237951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00" cap="all" spc="113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50035" y="4767263"/>
            <a:ext cx="15499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600" cap="all" spc="113" baseline="0"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6328" y="4767263"/>
            <a:ext cx="36887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600" cap="all" spc="113" baseline="0"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50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  <p:sldLayoutId id="2147483827" r:id="rId18"/>
    <p:sldLayoutId id="2147483828" r:id="rId19"/>
    <p:sldLayoutId id="2147483829" r:id="rId20"/>
    <p:sldLayoutId id="2147483830" r:id="rId21"/>
    <p:sldLayoutId id="2147483831" r:id="rId22"/>
    <p:sldLayoutId id="2147483832" r:id="rId23"/>
    <p:sldLayoutId id="2147483833" r:id="rId24"/>
    <p:sldLayoutId id="2147483834" r:id="rId25"/>
    <p:sldLayoutId id="2147483835" r:id="rId26"/>
    <p:sldLayoutId id="2147483836" r:id="rId27"/>
    <p:sldLayoutId id="2147483837" r:id="rId28"/>
  </p:sldLayoutIdLst>
  <p:hf sldNum="0" hdr="0" ftr="0" dt="0"/>
  <p:txStyles>
    <p:titleStyle>
      <a:lvl1pPr algn="l" defTabSz="685800" rtl="0" eaLnBrk="1" latinLnBrk="0" hangingPunct="1">
        <a:lnSpc>
          <a:spcPct val="55000"/>
        </a:lnSpc>
        <a:spcBef>
          <a:spcPct val="0"/>
        </a:spcBef>
        <a:buNone/>
        <a:defRPr sz="3300" b="1" kern="1200" spc="-23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3296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Sales &amp; Revenue Analysis Dashboard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428205"/>
            <a:ext cx="4722763" cy="138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Interactive Business Analytics using Microsoft Power BI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Project-Based Internship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Presented by: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Garine Bhanu Tejaswi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Tools: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Power BI | Power Query | DAX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727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Turning Sales Data into Business Insights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940073"/>
            <a:ext cx="81517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Businesses generate large amounts of sales data, but raw data alone does not provide an easy way to understand performance.</a:t>
            </a:r>
            <a:endParaRPr lang="en-US" sz="8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project transforms sales transaction data into an interactive Power BI dashboard that helps users: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823" y="1438908"/>
            <a:ext cx="162744" cy="162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8767" y="1433587"/>
            <a:ext cx="779911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Monitor revenue and profit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823" y="1935993"/>
            <a:ext cx="162744" cy="162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8767" y="1930673"/>
            <a:ext cx="779911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Track key business KPIs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823" y="2433079"/>
            <a:ext cx="162744" cy="162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8767" y="2427759"/>
            <a:ext cx="779911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Identify top-performing products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823" y="2930165"/>
            <a:ext cx="162744" cy="162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8767" y="2924845"/>
            <a:ext cx="779911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 category and regional performance</a:t>
            </a:r>
            <a:endParaRPr lang="en-US" sz="8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823" y="3427251"/>
            <a:ext cx="162744" cy="1627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48767" y="3421931"/>
            <a:ext cx="779911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Analyze monthly revenue trends</a:t>
            </a:r>
            <a:endParaRPr lang="en-US" sz="8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823" y="3924337"/>
            <a:ext cx="162744" cy="16274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48767" y="3919017"/>
            <a:ext cx="779911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Filter results by category, region, customer segment, and date</a:t>
            </a:r>
            <a:endParaRPr lang="en-US" sz="850" dirty="0"/>
          </a:p>
        </p:txBody>
      </p:sp>
      <p:sp>
        <p:nvSpPr>
          <p:cNvPr id="16" name="Shape 8"/>
          <p:cNvSpPr/>
          <p:nvPr/>
        </p:nvSpPr>
        <p:spPr>
          <a:xfrm>
            <a:off x="496119" y="4343400"/>
            <a:ext cx="8151763" cy="365299"/>
          </a:xfrm>
          <a:prstGeom prst="roundRect">
            <a:avLst>
              <a:gd name="adj" fmla="val 4457"/>
            </a:avLst>
          </a:prstGeom>
          <a:solidFill>
            <a:srgbClr val="F3E3D8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14" y="4463355"/>
            <a:ext cx="135657" cy="10849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48767" y="4453533"/>
            <a:ext cx="814781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Goal:</a:t>
            </a:r>
            <a:r>
              <a:rPr lang="en-US" sz="8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Make sales performance easier to understand and support data-driven decision-making.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380"/>
            <a:ext cx="81517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the Dashboard Aims to Achieve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726430"/>
            <a:ext cx="8151763" cy="4651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531" y="886346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58069" y="813420"/>
            <a:ext cx="77028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Analyze overall sales and revenue performance</a:t>
            </a:r>
            <a:endParaRPr lang="en-US" sz="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33934"/>
            <a:ext cx="8151763" cy="465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2531" y="1393850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8069" y="1320924"/>
            <a:ext cx="77028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Track Total Revenue, Total Profit, Orders, Quantity, and Profit Margin</a:t>
            </a:r>
            <a:endParaRPr lang="en-US" sz="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41438"/>
            <a:ext cx="8151763" cy="4651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2531" y="1901354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858069" y="1828428"/>
            <a:ext cx="77028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Identify the highest-performing product categories</a:t>
            </a:r>
            <a:endParaRPr lang="en-US" sz="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48942"/>
            <a:ext cx="8151763" cy="4651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2531" y="2408858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858069" y="2335932"/>
            <a:ext cx="77028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Find the Top 10 products by revenue</a:t>
            </a:r>
            <a:endParaRPr lang="en-US" sz="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756446"/>
            <a:ext cx="8151763" cy="4651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2531" y="2916362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858069" y="2843436"/>
            <a:ext cx="77028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 revenue across different regions</a:t>
            </a:r>
            <a:endParaRPr lang="en-US" sz="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263950"/>
            <a:ext cx="8151763" cy="46516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02531" y="3423865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6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858069" y="3350940"/>
            <a:ext cx="77028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Analyze monthly revenue trends</a:t>
            </a:r>
            <a:endParaRPr lang="en-US" sz="6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771454"/>
            <a:ext cx="8151763" cy="46516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02531" y="3931369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Text 14"/>
          <p:cNvSpPr/>
          <p:nvPr/>
        </p:nvSpPr>
        <p:spPr>
          <a:xfrm>
            <a:off x="858069" y="3858444"/>
            <a:ext cx="77028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Provide interactive filters and slicers</a:t>
            </a:r>
            <a:endParaRPr lang="en-US" sz="6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278957"/>
            <a:ext cx="8151763" cy="46516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02531" y="4438873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Text 16"/>
          <p:cNvSpPr/>
          <p:nvPr/>
        </p:nvSpPr>
        <p:spPr>
          <a:xfrm>
            <a:off x="858069" y="4365947"/>
            <a:ext cx="77028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Generate actionable business insights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839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 &amp; Technology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97222" y="1055489"/>
            <a:ext cx="4106168" cy="3661172"/>
          </a:xfrm>
          <a:prstGeom prst="roundRect">
            <a:avLst>
              <a:gd name="adj" fmla="val 563"/>
            </a:avLst>
          </a:prstGeom>
          <a:solidFill>
            <a:srgbClr val="3E2513"/>
          </a:solidFill>
          <a:ln/>
        </p:spPr>
      </p:sp>
      <p:sp>
        <p:nvSpPr>
          <p:cNvPr id="4" name="Text 2"/>
          <p:cNvSpPr/>
          <p:nvPr/>
        </p:nvSpPr>
        <p:spPr>
          <a:xfrm>
            <a:off x="534516" y="1188467"/>
            <a:ext cx="383158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4516" y="1535981"/>
            <a:ext cx="383158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sales dataset contains transaction-level information including: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4516" y="2088356"/>
            <a:ext cx="3831580" cy="2581796"/>
          </a:xfrm>
          <a:prstGeom prst="rect">
            <a:avLst/>
          </a:prstGeom>
          <a:noFill/>
          <a:ln/>
        </p:spPr>
        <p:txBody>
          <a:bodyPr wrap="square" lIns="0" tIns="54935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Order ID and Order Date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Product and Category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Sub-Category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Customer Segment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Region, State, and City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Quantity and Unit Price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Revenue and Cost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Profit and Discount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Payment Mode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Salesperson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44269" y="1188467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4269" y="1535981"/>
            <a:ext cx="43655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Microsoft Power BI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44269" y="1872035"/>
            <a:ext cx="3908375" cy="741983"/>
          </a:xfrm>
          <a:prstGeom prst="rect">
            <a:avLst/>
          </a:prstGeom>
          <a:noFill/>
          <a:ln/>
        </p:spPr>
        <p:txBody>
          <a:bodyPr wrap="square" lIns="0" tIns="54935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Dashboard development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visualization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Interactive reporting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44269" y="2733749"/>
            <a:ext cx="43655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Power Query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44269" y="3069803"/>
            <a:ext cx="4365575" cy="216322"/>
          </a:xfrm>
          <a:prstGeom prst="rect">
            <a:avLst/>
          </a:prstGeom>
          <a:noFill/>
          <a:ln/>
        </p:spPr>
        <p:txBody>
          <a:bodyPr wrap="none" lIns="0" tIns="54935" rIns="0" bIns="0" rtlCol="0" anchor="t"/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preparation and transformation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44269" y="3405857"/>
            <a:ext cx="43655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DAX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44269" y="3741911"/>
            <a:ext cx="4365575" cy="216322"/>
          </a:xfrm>
          <a:prstGeom prst="rect">
            <a:avLst/>
          </a:prstGeom>
          <a:noFill/>
          <a:ln/>
        </p:spPr>
        <p:txBody>
          <a:bodyPr wrap="none" lIns="0" tIns="54935" rIns="0" bIns="0" rtlCol="0" anchor="t"/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KPI and calculated measures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44269" y="4077965"/>
            <a:ext cx="43655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Excel / CSV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44269" y="4414019"/>
            <a:ext cx="4365575" cy="216322"/>
          </a:xfrm>
          <a:prstGeom prst="rect">
            <a:avLst/>
          </a:prstGeom>
          <a:noFill/>
          <a:ln/>
        </p:spPr>
        <p:txBody>
          <a:bodyPr wrap="none" lIns="0" tIns="54935" rIns="0" bIns="0" rtlCol="0" anchor="t"/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source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416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From Raw Data to Analysis-Ready Data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2150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Preparation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84722"/>
            <a:ext cx="3902943" cy="1885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Imported the sales dataset into Power BI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Checked and corrected data types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Prepared numerical and categorical fields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Structured the order date field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Created a Date Table for time-based analysis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Established relationships between tables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7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Prepared data for interactive filtering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679749"/>
            <a:ext cx="4107135" cy="2439591"/>
          </a:xfrm>
          <a:prstGeom prst="roundRect">
            <a:avLst>
              <a:gd name="adj" fmla="val 872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1821507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DAX Measures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89363" y="2184722"/>
            <a:ext cx="3823618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Total Revenue</a:t>
            </a:r>
            <a:r>
              <a:rPr lang="en-US" sz="11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SUM(Sales_Data[Revenue])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Total Profit</a:t>
            </a:r>
            <a:r>
              <a:rPr lang="en-US" sz="11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SUM(Sales_Data[Profit])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Total Quantity</a:t>
            </a:r>
            <a:r>
              <a:rPr lang="en-US" sz="11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SUM(Sales_Data[Quantity])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Total Orders</a:t>
            </a:r>
            <a:r>
              <a:rPr lang="en-US" sz="11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DISTINCTCOUNT(Sales_Data[Order_ID])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Profit Margin</a:t>
            </a:r>
            <a:r>
              <a:rPr lang="en-US" sz="11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DIVIDE([Total Profit], [Total Revenue], 0)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9071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Interactive Sales &amp; Revenue Dashboard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834777"/>
            <a:ext cx="815176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Performance Indicators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222623"/>
            <a:ext cx="2636193" cy="38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38.11M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496119" y="1741512"/>
            <a:ext cx="263619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53829" y="1222623"/>
            <a:ext cx="2636267" cy="38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10.22M</a:t>
            </a:r>
            <a:endParaRPr lang="en-US" sz="3050" dirty="0"/>
          </a:p>
        </p:txBody>
      </p:sp>
      <p:sp>
        <p:nvSpPr>
          <p:cNvPr id="7" name="Text 5"/>
          <p:cNvSpPr/>
          <p:nvPr/>
        </p:nvSpPr>
        <p:spPr>
          <a:xfrm>
            <a:off x="3253829" y="1741512"/>
            <a:ext cx="263626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Total Profit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11614" y="1222623"/>
            <a:ext cx="2636267" cy="38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600</a:t>
            </a:r>
            <a:endParaRPr lang="en-US" sz="3050" dirty="0"/>
          </a:p>
        </p:txBody>
      </p:sp>
      <p:sp>
        <p:nvSpPr>
          <p:cNvPr id="9" name="Text 7"/>
          <p:cNvSpPr/>
          <p:nvPr/>
        </p:nvSpPr>
        <p:spPr>
          <a:xfrm>
            <a:off x="6011614" y="1741512"/>
            <a:ext cx="263626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874937" y="2178025"/>
            <a:ext cx="2636267" cy="38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2K</a:t>
            </a:r>
            <a:endParaRPr lang="en-US" sz="3050" dirty="0"/>
          </a:p>
        </p:txBody>
      </p:sp>
      <p:sp>
        <p:nvSpPr>
          <p:cNvPr id="11" name="Text 9"/>
          <p:cNvSpPr/>
          <p:nvPr/>
        </p:nvSpPr>
        <p:spPr>
          <a:xfrm>
            <a:off x="1874937" y="2696914"/>
            <a:ext cx="263626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Total Quantity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32722" y="2178025"/>
            <a:ext cx="2636267" cy="38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26.82%</a:t>
            </a:r>
            <a:endParaRPr lang="en-US" sz="3050" dirty="0"/>
          </a:p>
        </p:txBody>
      </p:sp>
      <p:sp>
        <p:nvSpPr>
          <p:cNvPr id="13" name="Text 11"/>
          <p:cNvSpPr/>
          <p:nvPr/>
        </p:nvSpPr>
        <p:spPr>
          <a:xfrm>
            <a:off x="4632722" y="2696914"/>
            <a:ext cx="263626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Profit Margin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6119" y="3086844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Dashboard Visualizations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6119" y="3367460"/>
            <a:ext cx="3932709" cy="788715"/>
          </a:xfrm>
          <a:prstGeom prst="rect">
            <a:avLst/>
          </a:prstGeom>
          <a:noFill/>
          <a:ln/>
        </p:spPr>
        <p:txBody>
          <a:bodyPr wrap="square" lIns="0" tIns="46960" rIns="0" bIns="0" rtlCol="0" anchor="t">
            <a:normAutofit/>
          </a:bodyPr>
          <a:lstStyle/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Monthly Revenue Trend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Revenue by Category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 10 Products by Revenue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Revenue by Region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19935" y="3086844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Interactive Filters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19935" y="3367460"/>
            <a:ext cx="3932709" cy="788715"/>
          </a:xfrm>
          <a:prstGeom prst="rect">
            <a:avLst/>
          </a:prstGeom>
          <a:noFill/>
          <a:ln/>
        </p:spPr>
        <p:txBody>
          <a:bodyPr wrap="square" lIns="0" tIns="46960" rIns="0" bIns="0" rtlCol="0" anchor="t">
            <a:normAutofit/>
          </a:bodyPr>
          <a:lstStyle/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Category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Region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Customer Segment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Date Range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6119" y="4299496"/>
            <a:ext cx="8151763" cy="414933"/>
          </a:xfrm>
          <a:prstGeom prst="roundRect">
            <a:avLst>
              <a:gd name="adj" fmla="val 4244"/>
            </a:avLst>
          </a:prstGeom>
          <a:solidFill>
            <a:srgbClr val="F3E3D8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70" y="4437608"/>
            <a:ext cx="146745" cy="11735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77565" y="4426000"/>
            <a:ext cx="8110165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Add the final Power BI dashboard screenshot on this slide.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3565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the Data Tells Us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18741"/>
            <a:ext cx="4009355" cy="10396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8663" y="1275085"/>
            <a:ext cx="36204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1. Electronics leads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28663" y="1569393"/>
            <a:ext cx="362046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Electronics is the highest revenue-generating category with approximately </a:t>
            </a:r>
            <a:r>
              <a:rPr lang="en-US" sz="10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28.4M</a:t>
            </a: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8452" y="1118741"/>
            <a:ext cx="4009430" cy="10396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0996" y="1275085"/>
            <a:ext cx="36205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2. South is the strongest region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70996" y="1569393"/>
            <a:ext cx="362054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South region contributes approximately </a:t>
            </a:r>
            <a:r>
              <a:rPr lang="en-US" sz="10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13.5M</a:t>
            </a: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in revenue, making it the top-performing region.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91358"/>
            <a:ext cx="4009355" cy="10396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8663" y="2447702"/>
            <a:ext cx="36204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3. Strong overall profitability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28663" y="2742009"/>
            <a:ext cx="362046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business generates approximately </a:t>
            </a:r>
            <a:r>
              <a:rPr lang="en-US" sz="10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38.11M revenue</a:t>
            </a: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</a:t>
            </a:r>
            <a:r>
              <a:rPr lang="en-US" sz="10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10.22M profit</a:t>
            </a: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8452" y="2291358"/>
            <a:ext cx="4009430" cy="103963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70996" y="2447702"/>
            <a:ext cx="36205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4. Profit margin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870996" y="2742009"/>
            <a:ext cx="362054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overall profit margin is approximately </a:t>
            </a:r>
            <a:r>
              <a:rPr lang="en-US" sz="10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26.82%</a:t>
            </a: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463975"/>
            <a:ext cx="4009355" cy="12559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28663" y="3620319"/>
            <a:ext cx="36204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5. Revenue changes over time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728663" y="3914626"/>
            <a:ext cx="362046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monthly trend shows significant variation, with a noticeable revenue peak around </a:t>
            </a:r>
            <a:r>
              <a:rPr lang="en-US" sz="10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October 2025</a:t>
            </a: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8452" y="3463975"/>
            <a:ext cx="4009430" cy="125596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70996" y="3620319"/>
            <a:ext cx="36205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6. Product performance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4870996" y="3914626"/>
            <a:ext cx="3620542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Top 10 Products visualization identifies the products contributing most significantly to overall revenue.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960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 &amp; Learning Outcomes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419546" y="872803"/>
            <a:ext cx="4099322" cy="1783184"/>
          </a:xfrm>
          <a:prstGeom prst="roundRect">
            <a:avLst>
              <a:gd name="adj" fmla="val 894"/>
            </a:avLst>
          </a:prstGeom>
          <a:solidFill>
            <a:srgbClr val="3E2513"/>
          </a:solidFill>
          <a:ln/>
        </p:spPr>
      </p:sp>
      <p:sp>
        <p:nvSpPr>
          <p:cNvPr id="4" name="Text 2"/>
          <p:cNvSpPr/>
          <p:nvPr/>
        </p:nvSpPr>
        <p:spPr>
          <a:xfrm>
            <a:off x="525810" y="952500"/>
            <a:ext cx="388679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25810" y="1198290"/>
            <a:ext cx="3886795" cy="1185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55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Sales &amp; Revenue Analysis Dashboard successfully converts raw sales data into an interactive business intelligence solution.</a:t>
            </a:r>
            <a:endParaRPr lang="en-US" sz="800" dirty="0"/>
          </a:p>
          <a:p>
            <a:pPr marL="0" indent="0" algn="l">
              <a:lnSpc>
                <a:spcPct val="117000"/>
              </a:lnSpc>
              <a:spcAft>
                <a:spcPts val="55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dashboard provides a centralized view of revenue, profitability, product performance, category performance, regional performance, and sales trends.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It enables users to explore the data interactively and supports faster, data-driven business decisions.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706466" y="952500"/>
            <a:ext cx="394617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Learning Outcomes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06466" y="1198290"/>
            <a:ext cx="440337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Through this project, I gained practical experience in: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06466" y="1418853"/>
            <a:ext cx="3946178" cy="1209229"/>
          </a:xfrm>
          <a:prstGeom prst="rect">
            <a:avLst/>
          </a:prstGeom>
          <a:noFill/>
          <a:ln/>
        </p:spPr>
        <p:txBody>
          <a:bodyPr wrap="square" lIns="0" tIns="42530" rIns="0" bIns="0" rtlCol="0" anchor="t">
            <a:normAutofit/>
          </a:bodyPr>
          <a:lstStyle/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preparation using Power Query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visualization using Power BI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DAX calculations and KPI creation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Interactive dashboard development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Sales and revenue analysis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Business insight generation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Presenting data in a business-friendly format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6119" y="2775570"/>
            <a:ext cx="815176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Future Enhancements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6119" y="3061246"/>
            <a:ext cx="4035996" cy="361355"/>
          </a:xfrm>
          <a:prstGeom prst="roundRect">
            <a:avLst>
              <a:gd name="adj" fmla="val 4414"/>
            </a:avLst>
          </a:prstGeom>
          <a:solidFill>
            <a:srgbClr val="F9F7F7"/>
          </a:solidFill>
          <a:ln/>
        </p:spPr>
      </p:sp>
      <p:sp>
        <p:nvSpPr>
          <p:cNvPr id="11" name="Text 9"/>
          <p:cNvSpPr/>
          <p:nvPr/>
        </p:nvSpPr>
        <p:spPr>
          <a:xfrm>
            <a:off x="602382" y="3167509"/>
            <a:ext cx="382346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Sales forecasting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11812" y="3061246"/>
            <a:ext cx="4036070" cy="361355"/>
          </a:xfrm>
          <a:prstGeom prst="roundRect">
            <a:avLst>
              <a:gd name="adj" fmla="val 4414"/>
            </a:avLst>
          </a:prstGeom>
          <a:solidFill>
            <a:srgbClr val="F9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4718075" y="3167509"/>
            <a:ext cx="382354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Year-over-year growth analysis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96119" y="3502298"/>
            <a:ext cx="4035996" cy="361355"/>
          </a:xfrm>
          <a:prstGeom prst="roundRect">
            <a:avLst>
              <a:gd name="adj" fmla="val 4414"/>
            </a:avLst>
          </a:prstGeom>
          <a:solidFill>
            <a:srgbClr val="F9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602382" y="3608561"/>
            <a:ext cx="382346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Customer retention analysis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1812" y="3502298"/>
            <a:ext cx="4036070" cy="361355"/>
          </a:xfrm>
          <a:prstGeom prst="roundRect">
            <a:avLst>
              <a:gd name="adj" fmla="val 4414"/>
            </a:avLst>
          </a:prstGeom>
          <a:solidFill>
            <a:srgbClr val="F9F7F7"/>
          </a:solidFill>
          <a:ln/>
        </p:spPr>
      </p:sp>
      <p:sp>
        <p:nvSpPr>
          <p:cNvPr id="17" name="Text 15"/>
          <p:cNvSpPr/>
          <p:nvPr/>
        </p:nvSpPr>
        <p:spPr>
          <a:xfrm>
            <a:off x="4718075" y="3608561"/>
            <a:ext cx="382354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Product-level profitability analysis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6119" y="3943350"/>
            <a:ext cx="4035996" cy="361355"/>
          </a:xfrm>
          <a:prstGeom prst="roundRect">
            <a:avLst>
              <a:gd name="adj" fmla="val 4414"/>
            </a:avLst>
          </a:prstGeom>
          <a:solidFill>
            <a:srgbClr val="F9F7F7"/>
          </a:solidFill>
          <a:ln/>
        </p:spPr>
      </p:sp>
      <p:sp>
        <p:nvSpPr>
          <p:cNvPr id="19" name="Text 17"/>
          <p:cNvSpPr/>
          <p:nvPr/>
        </p:nvSpPr>
        <p:spPr>
          <a:xfrm>
            <a:off x="602382" y="4049613"/>
            <a:ext cx="382346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Drill-through reports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11812" y="3943350"/>
            <a:ext cx="4036070" cy="361355"/>
          </a:xfrm>
          <a:prstGeom prst="roundRect">
            <a:avLst>
              <a:gd name="adj" fmla="val 4414"/>
            </a:avLst>
          </a:prstGeom>
          <a:solidFill>
            <a:srgbClr val="F9F7F7"/>
          </a:solidFill>
          <a:ln/>
        </p:spPr>
      </p:sp>
      <p:sp>
        <p:nvSpPr>
          <p:cNvPr id="21" name="Text 19"/>
          <p:cNvSpPr/>
          <p:nvPr/>
        </p:nvSpPr>
        <p:spPr>
          <a:xfrm>
            <a:off x="4718075" y="4049613"/>
            <a:ext cx="382354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data refresh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5588" y="4484043"/>
            <a:ext cx="844949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Thank You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6119" y="4394374"/>
            <a:ext cx="14288" cy="328166"/>
          </a:xfrm>
          <a:prstGeom prst="roundRect">
            <a:avLst>
              <a:gd name="adj" fmla="val 49998"/>
            </a:avLst>
          </a:prstGeom>
          <a:solidFill>
            <a:srgbClr val="3E251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2</TotalTime>
  <Words>658</Words>
  <Application>Microsoft Office PowerPoint</Application>
  <PresentationFormat>On-screen Show (16:9)</PresentationFormat>
  <Paragraphs>137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Raleway</vt:lpstr>
      <vt:lpstr>Source Serif 4</vt:lpstr>
      <vt:lpstr>JasmineUPC</vt:lpstr>
      <vt:lpstr>Source Serif 4 Bold</vt:lpstr>
      <vt:lpstr>Platypi Medium</vt:lpstr>
      <vt:lpstr>School Days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 Bhanu</dc:creator>
  <cp:lastModifiedBy>Bhanutejaswi Garine</cp:lastModifiedBy>
  <cp:revision>2</cp:revision>
  <dcterms:created xsi:type="dcterms:W3CDTF">2026-08-18T14:15:48Z</dcterms:created>
  <dcterms:modified xsi:type="dcterms:W3CDTF">2026-08-18T14:18:45Z</dcterms:modified>
</cp:coreProperties>
</file>